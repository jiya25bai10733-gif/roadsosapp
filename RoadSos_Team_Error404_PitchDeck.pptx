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Arimo Bold" panose="020B0604020202020204" charset="0"/>
      <p:regular r:id="rId10"/>
    </p:embeddedFont>
    <p:embeddedFont>
      <p:font typeface="Arimo Italics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90ED38-4DE9-459D-92F4-C6E2FEE775F8}" v="1" dt="2026-05-21T11:42:11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nya Yadav" userId="8bc79e222c44591f" providerId="LiveId" clId="{E9878328-9292-40F2-8529-F8E2A8B1D714}"/>
    <pc:docChg chg="modSld">
      <pc:chgData name="Aanya Yadav" userId="8bc79e222c44591f" providerId="LiveId" clId="{E9878328-9292-40F2-8529-F8E2A8B1D714}" dt="2026-05-21T11:42:03.834" v="1" actId="20577"/>
      <pc:docMkLst>
        <pc:docMk/>
      </pc:docMkLst>
      <pc:sldChg chg="modSp mod">
        <pc:chgData name="Aanya Yadav" userId="8bc79e222c44591f" providerId="LiveId" clId="{E9878328-9292-40F2-8529-F8E2A8B1D714}" dt="2026-05-21T11:42:03.834" v="1" actId="20577"/>
        <pc:sldMkLst>
          <pc:docMk/>
          <pc:sldMk cId="0" sldId="256"/>
        </pc:sldMkLst>
        <pc:spChg chg="mod">
          <ac:chgData name="Aanya Yadav" userId="8bc79e222c44591f" providerId="LiveId" clId="{E9878328-9292-40F2-8529-F8E2A8B1D714}" dt="2026-05-21T11:42:03.834" v="1" actId="20577"/>
          <ac:spMkLst>
            <pc:docMk/>
            <pc:sldMk cId="0" sldId="256"/>
            <ac:spMk id="1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58359" y="9688982"/>
            <a:ext cx="2143687" cy="512064"/>
            <a:chOff x="0" y="0"/>
            <a:chExt cx="2858249" cy="682752"/>
          </a:xfrm>
        </p:grpSpPr>
        <p:sp>
          <p:nvSpPr>
            <p:cNvPr id="7" name="Freeform 7" descr="preencoded.png">
              <a:hlinkClick r:id="rId2" tooltip="https://gamma.app/?utm_source=made-with-gamma"/>
            </p:cNvPr>
            <p:cNvSpPr/>
            <p:nvPr/>
          </p:nvSpPr>
          <p:spPr>
            <a:xfrm>
              <a:off x="0" y="0"/>
              <a:ext cx="2858262" cy="682752"/>
            </a:xfrm>
            <a:custGeom>
              <a:avLst/>
              <a:gdLst/>
              <a:ahLst/>
              <a:cxnLst/>
              <a:rect l="l" t="t" r="r" b="b"/>
              <a:pathLst>
                <a:path w="2858262" h="68275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1818" y="732530"/>
            <a:ext cx="6962927" cy="451247"/>
            <a:chOff x="0" y="0"/>
            <a:chExt cx="9283903" cy="6016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83827" cy="601599"/>
            </a:xfrm>
            <a:custGeom>
              <a:avLst/>
              <a:gdLst/>
              <a:ahLst/>
              <a:cxnLst/>
              <a:rect l="l" t="t" r="r" b="b"/>
              <a:pathLst>
                <a:path w="9283827" h="601599">
                  <a:moveTo>
                    <a:pt x="0" y="39243"/>
                  </a:moveTo>
                  <a:cubicBezTo>
                    <a:pt x="0" y="17526"/>
                    <a:pt x="17526" y="0"/>
                    <a:pt x="39243" y="0"/>
                  </a:cubicBezTo>
                  <a:lnTo>
                    <a:pt x="9244584" y="0"/>
                  </a:lnTo>
                  <a:cubicBezTo>
                    <a:pt x="9266301" y="0"/>
                    <a:pt x="9283827" y="17526"/>
                    <a:pt x="9283827" y="39243"/>
                  </a:cubicBezTo>
                  <a:lnTo>
                    <a:pt x="9283827" y="562356"/>
                  </a:lnTo>
                  <a:cubicBezTo>
                    <a:pt x="9283827" y="584073"/>
                    <a:pt x="9266301" y="601599"/>
                    <a:pt x="9244584" y="601599"/>
                  </a:cubicBezTo>
                  <a:lnTo>
                    <a:pt x="39243" y="601599"/>
                  </a:lnTo>
                  <a:cubicBezTo>
                    <a:pt x="17526" y="601599"/>
                    <a:pt x="0" y="584073"/>
                    <a:pt x="0" y="562356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29008" y="739378"/>
            <a:ext cx="7582938" cy="37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2"/>
              </a:lnSpc>
            </a:pPr>
            <a:r>
              <a:rPr lang="en-US" sz="15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NATIONAL ROAD SAFETY HACKATHON 2026 · PROBLEM STATEMENT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1818" y="1228125"/>
            <a:ext cx="9466364" cy="1491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RoadSos: The AI Emergency Guardian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1818" y="3017196"/>
            <a:ext cx="9466364" cy="4032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7"/>
              </a:lnSpc>
            </a:pPr>
            <a:r>
              <a:rPr lang="en-US" sz="6199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Next-Gen Emergency Response for the Golden Hour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1818" y="7318172"/>
            <a:ext cx="9466364" cy="2193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19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Developed by </a:t>
            </a:r>
            <a:r>
              <a:rPr lang="en-US" sz="1900" b="1" dirty="0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Team Error 404</a:t>
            </a:r>
            <a:r>
              <a:rPr lang="en-US" sz="19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for the Centre of Excellence for Road Safety (CoERS), RBG Labs, IIT Madras. A unified, offline-first platform that transforms emergency response from reactive searching to proactive, automated life-saving action.</a:t>
            </a:r>
          </a:p>
          <a:p>
            <a:pPr algn="l">
              <a:lnSpc>
                <a:spcPts val="2941"/>
              </a:lnSpc>
            </a:pPr>
            <a:endParaRPr lang="en-US" sz="1900" b="1" dirty="0">
              <a:solidFill>
                <a:srgbClr val="D9E1FF"/>
              </a:solidFill>
              <a:highlight>
                <a:srgbClr val="000080"/>
              </a:highlight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2941"/>
              </a:lnSpc>
            </a:pPr>
            <a:r>
              <a:rPr lang="en-US" sz="1900" b="1" dirty="0">
                <a:solidFill>
                  <a:srgbClr val="D9E1FF"/>
                </a:solidFill>
                <a:highlight>
                  <a:srgbClr val="000080"/>
                </a:highlight>
                <a:latin typeface="Arimo Bold"/>
                <a:ea typeface="Arimo Bold"/>
                <a:cs typeface="Arimo Bold"/>
                <a:sym typeface="Arimo Bold"/>
              </a:rPr>
              <a:t>Team Members:</a:t>
            </a:r>
            <a:r>
              <a:rPr lang="en-US" sz="1900" dirty="0">
                <a:solidFill>
                  <a:srgbClr val="D9E1FF"/>
                </a:solidFill>
                <a:highlight>
                  <a:srgbClr val="000080"/>
                </a:highlight>
                <a:latin typeface="Arimo"/>
                <a:ea typeface="Arimo"/>
                <a:cs typeface="Arimo"/>
                <a:sym typeface="Arimo"/>
              </a:rPr>
              <a:t> Jiya Kalra · Mahi Agrawal · Aanya Yadav · Akshay Saxena · Shikhar Vaidhya · Saurabh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2387" y="1221134"/>
            <a:ext cx="2088061" cy="520456"/>
            <a:chOff x="0" y="0"/>
            <a:chExt cx="2784081" cy="6939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84094" cy="693928"/>
            </a:xfrm>
            <a:custGeom>
              <a:avLst/>
              <a:gdLst/>
              <a:ahLst/>
              <a:cxnLst/>
              <a:rect l="l" t="t" r="r" b="b"/>
              <a:pathLst>
                <a:path w="2784094" h="693928">
                  <a:moveTo>
                    <a:pt x="0" y="42672"/>
                  </a:moveTo>
                  <a:cubicBezTo>
                    <a:pt x="0" y="19050"/>
                    <a:pt x="19050" y="0"/>
                    <a:pt x="42672" y="0"/>
                  </a:cubicBezTo>
                  <a:lnTo>
                    <a:pt x="2741422" y="0"/>
                  </a:lnTo>
                  <a:cubicBezTo>
                    <a:pt x="2765044" y="0"/>
                    <a:pt x="2784094" y="19050"/>
                    <a:pt x="2784094" y="42672"/>
                  </a:cubicBezTo>
                  <a:lnTo>
                    <a:pt x="2784094" y="651256"/>
                  </a:lnTo>
                  <a:cubicBezTo>
                    <a:pt x="2784094" y="674878"/>
                    <a:pt x="2765044" y="693928"/>
                    <a:pt x="2741422" y="693928"/>
                  </a:cubicBezTo>
                  <a:lnTo>
                    <a:pt x="42672" y="693928"/>
                  </a:lnTo>
                  <a:cubicBezTo>
                    <a:pt x="19050" y="693928"/>
                    <a:pt x="0" y="674878"/>
                    <a:pt x="0" y="651256"/>
                  </a:cubicBez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74" b="-28176"/>
              </a:stretch>
            </a:blipFill>
            <a:ln w="9526" cap="sq">
              <a:solidFill>
                <a:srgbClr val="8061FF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13695" y="1237650"/>
            <a:ext cx="2659856" cy="41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600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THE CHALLENGE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150" y="1803349"/>
            <a:ext cx="14234074" cy="80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Critical Problem &amp; The Golden Hour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150" y="2927747"/>
            <a:ext cx="16193691" cy="91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Every second lost after a road accident is a second stolen from survival. India loses over </a:t>
            </a: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150,000 lives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annually to road crashes — many preventable with faster, smarter emergency response.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47150" y="4136079"/>
            <a:ext cx="7965872" cy="2331539"/>
            <a:chOff x="0" y="0"/>
            <a:chExt cx="10621162" cy="31087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21137" cy="3108706"/>
            </a:xfrm>
            <a:custGeom>
              <a:avLst/>
              <a:gdLst/>
              <a:ahLst/>
              <a:cxnLst/>
              <a:rect l="l" t="t" r="r" b="b"/>
              <a:pathLst>
                <a:path w="10621137" h="3108706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10568813" y="0"/>
                  </a:lnTo>
                  <a:cubicBezTo>
                    <a:pt x="10597769" y="0"/>
                    <a:pt x="10621137" y="23495"/>
                    <a:pt x="10621137" y="52324"/>
                  </a:cubicBezTo>
                  <a:lnTo>
                    <a:pt x="10621137" y="3056382"/>
                  </a:lnTo>
                  <a:cubicBezTo>
                    <a:pt x="10621137" y="3085338"/>
                    <a:pt x="10597642" y="3108706"/>
                    <a:pt x="10568813" y="3108706"/>
                  </a:cubicBezTo>
                  <a:lnTo>
                    <a:pt x="52324" y="3108706"/>
                  </a:lnTo>
                  <a:cubicBezTo>
                    <a:pt x="23368" y="3108706"/>
                    <a:pt x="0" y="3085211"/>
                    <a:pt x="0" y="3056382"/>
                  </a:cubicBezTo>
                  <a:close/>
                </a:path>
              </a:pathLst>
            </a:custGeom>
            <a:solidFill>
              <a:srgbClr val="2B295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08945" y="4378823"/>
            <a:ext cx="5074891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⚠</a:t>
            </a:r>
            <a:r>
              <a:rPr lang="en-US" sz="24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 Information Fragmentation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8945" y="4873228"/>
            <a:ext cx="7442302" cy="133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Citizens lack location-specific access to state, provincial, and local traffic laws — causing legal confusion at the worst possible moment.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274816" y="4136079"/>
            <a:ext cx="7966024" cy="2331539"/>
            <a:chOff x="0" y="0"/>
            <a:chExt cx="10621366" cy="31087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621391" cy="3108706"/>
            </a:xfrm>
            <a:custGeom>
              <a:avLst/>
              <a:gdLst/>
              <a:ahLst/>
              <a:cxnLst/>
              <a:rect l="l" t="t" r="r" b="b"/>
              <a:pathLst>
                <a:path w="10621391" h="3108706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10569067" y="0"/>
                  </a:lnTo>
                  <a:cubicBezTo>
                    <a:pt x="10598024" y="0"/>
                    <a:pt x="10621391" y="23495"/>
                    <a:pt x="10621391" y="52324"/>
                  </a:cubicBezTo>
                  <a:lnTo>
                    <a:pt x="10621391" y="3056382"/>
                  </a:lnTo>
                  <a:cubicBezTo>
                    <a:pt x="10621391" y="3085338"/>
                    <a:pt x="10597897" y="3108706"/>
                    <a:pt x="10569067" y="3108706"/>
                  </a:cubicBezTo>
                  <a:lnTo>
                    <a:pt x="52324" y="3108706"/>
                  </a:lnTo>
                  <a:cubicBezTo>
                    <a:pt x="23368" y="3108706"/>
                    <a:pt x="0" y="3085211"/>
                    <a:pt x="0" y="3056382"/>
                  </a:cubicBezTo>
                  <a:close/>
                </a:path>
              </a:pathLst>
            </a:custGeom>
            <a:solidFill>
              <a:srgbClr val="2B295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536611" y="4378823"/>
            <a:ext cx="4270172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⏱</a:t>
            </a:r>
            <a:r>
              <a:rPr lang="en-US" sz="24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 The Golden Hour Crisis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36611" y="4873228"/>
            <a:ext cx="7442444" cy="133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Delays in locating trauma centres and ambulances immediately post-accident drastically reduce survival rates. The first 60 minutes are decisive.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47150" y="6729412"/>
            <a:ext cx="7965872" cy="2331539"/>
            <a:chOff x="0" y="0"/>
            <a:chExt cx="10621162" cy="31087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621137" cy="3108706"/>
            </a:xfrm>
            <a:custGeom>
              <a:avLst/>
              <a:gdLst/>
              <a:ahLst/>
              <a:cxnLst/>
              <a:rect l="l" t="t" r="r" b="b"/>
              <a:pathLst>
                <a:path w="10621137" h="3108706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10568813" y="0"/>
                  </a:lnTo>
                  <a:cubicBezTo>
                    <a:pt x="10597769" y="0"/>
                    <a:pt x="10621137" y="23495"/>
                    <a:pt x="10621137" y="52324"/>
                  </a:cubicBezTo>
                  <a:lnTo>
                    <a:pt x="10621137" y="3056382"/>
                  </a:lnTo>
                  <a:cubicBezTo>
                    <a:pt x="10621137" y="3085338"/>
                    <a:pt x="10597642" y="3108706"/>
                    <a:pt x="10568813" y="3108706"/>
                  </a:cubicBezTo>
                  <a:lnTo>
                    <a:pt x="52324" y="3108706"/>
                  </a:lnTo>
                  <a:cubicBezTo>
                    <a:pt x="23368" y="3108706"/>
                    <a:pt x="0" y="3085211"/>
                    <a:pt x="0" y="3056382"/>
                  </a:cubicBezTo>
                  <a:close/>
                </a:path>
              </a:pathLst>
            </a:custGeom>
            <a:solidFill>
              <a:srgbClr val="2B295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308945" y="6972148"/>
            <a:ext cx="4093521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📵</a:t>
            </a:r>
            <a:r>
              <a:rPr lang="en-US" sz="24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 Network Vulnerability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08945" y="7466562"/>
            <a:ext cx="7442302" cy="133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Standard safety apps fail completely in low-connectivity or remote zero-network zones — precisely where accidents are most lethal.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74816" y="6729412"/>
            <a:ext cx="7966024" cy="2331539"/>
            <a:chOff x="0" y="0"/>
            <a:chExt cx="10621366" cy="31087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21391" cy="3108706"/>
            </a:xfrm>
            <a:custGeom>
              <a:avLst/>
              <a:gdLst/>
              <a:ahLst/>
              <a:cxnLst/>
              <a:rect l="l" t="t" r="r" b="b"/>
              <a:pathLst>
                <a:path w="10621391" h="3108706">
                  <a:moveTo>
                    <a:pt x="0" y="52324"/>
                  </a:moveTo>
                  <a:cubicBezTo>
                    <a:pt x="0" y="23495"/>
                    <a:pt x="23495" y="0"/>
                    <a:pt x="52324" y="0"/>
                  </a:cubicBezTo>
                  <a:lnTo>
                    <a:pt x="10569067" y="0"/>
                  </a:lnTo>
                  <a:cubicBezTo>
                    <a:pt x="10598024" y="0"/>
                    <a:pt x="10621391" y="23495"/>
                    <a:pt x="10621391" y="52324"/>
                  </a:cubicBezTo>
                  <a:lnTo>
                    <a:pt x="10621391" y="3056382"/>
                  </a:lnTo>
                  <a:cubicBezTo>
                    <a:pt x="10621391" y="3085338"/>
                    <a:pt x="10597897" y="3108706"/>
                    <a:pt x="10569067" y="3108706"/>
                  </a:cubicBezTo>
                  <a:lnTo>
                    <a:pt x="52324" y="3108706"/>
                  </a:lnTo>
                  <a:cubicBezTo>
                    <a:pt x="23368" y="3108706"/>
                    <a:pt x="0" y="3085211"/>
                    <a:pt x="0" y="3056382"/>
                  </a:cubicBezTo>
                  <a:close/>
                </a:path>
              </a:pathLst>
            </a:custGeom>
            <a:solidFill>
              <a:srgbClr val="2B295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536611" y="6972148"/>
            <a:ext cx="3080147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🔗</a:t>
            </a:r>
            <a:r>
              <a:rPr lang="en-US" sz="24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 The Imperative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36611" y="7466562"/>
            <a:ext cx="7442444" cy="133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2"/>
              </a:lnSpc>
            </a:pP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 unified, global, offline-first application that transitions emergency response from </a:t>
            </a:r>
            <a:r>
              <a:rPr lang="en-US" sz="2000" i="1">
                <a:solidFill>
                  <a:srgbClr val="D9E1FF"/>
                </a:solidFill>
                <a:latin typeface="Arimo Italics"/>
                <a:ea typeface="Arimo Italics"/>
                <a:cs typeface="Arimo Italics"/>
                <a:sym typeface="Arimo Italics"/>
              </a:rPr>
              <a:t>reactive searching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to </a:t>
            </a:r>
            <a:r>
              <a:rPr lang="en-US" sz="2000" i="1">
                <a:solidFill>
                  <a:srgbClr val="D9E1FF"/>
                </a:solidFill>
                <a:latin typeface="Arimo Italics"/>
                <a:ea typeface="Arimo Italics"/>
                <a:cs typeface="Arimo Italics"/>
                <a:sym typeface="Arimo Italics"/>
              </a:rPr>
              <a:t>proactive, automated life-saving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81818" y="690410"/>
            <a:ext cx="1919583" cy="451247"/>
            <a:chOff x="0" y="0"/>
            <a:chExt cx="2559444" cy="6016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59431" cy="601599"/>
            </a:xfrm>
            <a:custGeom>
              <a:avLst/>
              <a:gdLst/>
              <a:ahLst/>
              <a:cxnLst/>
              <a:rect l="l" t="t" r="r" b="b"/>
              <a:pathLst>
                <a:path w="2559431" h="601599">
                  <a:moveTo>
                    <a:pt x="0" y="39243"/>
                  </a:moveTo>
                  <a:cubicBezTo>
                    <a:pt x="0" y="17526"/>
                    <a:pt x="17526" y="0"/>
                    <a:pt x="39243" y="0"/>
                  </a:cubicBezTo>
                  <a:lnTo>
                    <a:pt x="2520188" y="0"/>
                  </a:lnTo>
                  <a:cubicBezTo>
                    <a:pt x="2541905" y="0"/>
                    <a:pt x="2559431" y="17526"/>
                    <a:pt x="2559431" y="39243"/>
                  </a:cubicBezTo>
                  <a:lnTo>
                    <a:pt x="2559431" y="562356"/>
                  </a:lnTo>
                  <a:cubicBezTo>
                    <a:pt x="2559431" y="584073"/>
                    <a:pt x="2541905" y="601599"/>
                    <a:pt x="2520188" y="601599"/>
                  </a:cubicBezTo>
                  <a:lnTo>
                    <a:pt x="39243" y="601599"/>
                  </a:lnTo>
                  <a:cubicBezTo>
                    <a:pt x="17526" y="601599"/>
                    <a:pt x="0" y="584073"/>
                    <a:pt x="0" y="562356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29008" y="697259"/>
            <a:ext cx="2539603" cy="37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2"/>
              </a:lnSpc>
            </a:pPr>
            <a:r>
              <a:rPr lang="en-US" sz="15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CORE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1818" y="1186015"/>
            <a:ext cx="9917611" cy="76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RoadSos Unified Safety Hub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05015" y="2300735"/>
            <a:ext cx="7370121" cy="7295855"/>
            <a:chOff x="0" y="0"/>
            <a:chExt cx="9826828" cy="972780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826879" cy="9727819"/>
            </a:xfrm>
            <a:custGeom>
              <a:avLst/>
              <a:gdLst/>
              <a:ahLst/>
              <a:cxnLst/>
              <a:rect l="l" t="t" r="r" b="b"/>
              <a:pathLst>
                <a:path w="9826879" h="9727819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9777730" y="0"/>
                  </a:lnTo>
                  <a:cubicBezTo>
                    <a:pt x="9804908" y="0"/>
                    <a:pt x="9826879" y="21971"/>
                    <a:pt x="9826879" y="49149"/>
                  </a:cubicBezTo>
                  <a:lnTo>
                    <a:pt x="9826879" y="9678670"/>
                  </a:lnTo>
                  <a:cubicBezTo>
                    <a:pt x="9826879" y="9705848"/>
                    <a:pt x="9804908" y="9727819"/>
                    <a:pt x="9777730" y="9727819"/>
                  </a:cubicBezTo>
                  <a:lnTo>
                    <a:pt x="49149" y="9727819"/>
                  </a:lnTo>
                  <a:cubicBezTo>
                    <a:pt x="21971" y="9727819"/>
                    <a:pt x="0" y="9705848"/>
                    <a:pt x="0" y="9678670"/>
                  </a:cubicBez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50427" y="2502246"/>
            <a:ext cx="5278641" cy="38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Home Dashboard Interface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0427" y="3045619"/>
            <a:ext cx="6879279" cy="836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single, intuitive command centre designed for high-stress scenarios — zero learning curve, maximum speed.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0427" y="4013149"/>
            <a:ext cx="6879279" cy="2979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0" lvl="1" indent="-229235" algn="l">
              <a:lnSpc>
                <a:spcPts val="2941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1-Tap Smart SOS Button</a:t>
            </a: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— instant emergency activation</a:t>
            </a:r>
          </a:p>
          <a:p>
            <a:pPr marL="458470" lvl="1" indent="-229235" algn="l">
              <a:lnSpc>
                <a:spcPts val="2941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Live Location Telemetry</a:t>
            </a: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— real-time GPS sharing with responders</a:t>
            </a:r>
          </a:p>
          <a:p>
            <a:pPr marL="458470" lvl="1" indent="-229235" algn="l">
              <a:lnSpc>
                <a:spcPts val="2941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Safety Status Monitoring</a:t>
            </a: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— continuous environmental awareness</a:t>
            </a:r>
          </a:p>
          <a:p>
            <a:pPr marL="458470" lvl="1" indent="-229235" algn="l">
              <a:lnSpc>
                <a:spcPts val="2941"/>
              </a:lnSpc>
              <a:buFont typeface="Arial"/>
              <a:buChar char="•"/>
            </a:pPr>
            <a:r>
              <a:rPr lang="en-US" sz="19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Instant Emergency Shortcuts</a:t>
            </a: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— pre-configured rapid actions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06733" y="2502246"/>
            <a:ext cx="5776170" cy="38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Fulfilling Hackathon Mandates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592445" y="3136259"/>
            <a:ext cx="8737406" cy="1937595"/>
            <a:chOff x="0" y="0"/>
            <a:chExt cx="11649875" cy="25834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649964" cy="2583561"/>
            </a:xfrm>
            <a:custGeom>
              <a:avLst/>
              <a:gdLst/>
              <a:ahLst/>
              <a:cxnLst/>
              <a:rect l="l" t="t" r="r" b="b"/>
              <a:pathLst>
                <a:path w="11649964" h="2583561">
                  <a:moveTo>
                    <a:pt x="0" y="185674"/>
                  </a:moveTo>
                  <a:cubicBezTo>
                    <a:pt x="0" y="83058"/>
                    <a:pt x="83058" y="0"/>
                    <a:pt x="185674" y="0"/>
                  </a:cubicBezTo>
                  <a:lnTo>
                    <a:pt x="11464290" y="0"/>
                  </a:lnTo>
                  <a:cubicBezTo>
                    <a:pt x="11566779" y="0"/>
                    <a:pt x="11649964" y="83058"/>
                    <a:pt x="11649964" y="185674"/>
                  </a:cubicBezTo>
                  <a:lnTo>
                    <a:pt x="11649964" y="2397887"/>
                  </a:lnTo>
                  <a:cubicBezTo>
                    <a:pt x="11649964" y="2500376"/>
                    <a:pt x="11566906" y="2583561"/>
                    <a:pt x="11464290" y="2583561"/>
                  </a:cubicBezTo>
                  <a:lnTo>
                    <a:pt x="185674" y="2583561"/>
                  </a:lnTo>
                  <a:cubicBezTo>
                    <a:pt x="83058" y="2583434"/>
                    <a:pt x="0" y="2500376"/>
                    <a:pt x="0" y="2397887"/>
                  </a:cubicBezTo>
                  <a:close/>
                </a:path>
              </a:pathLst>
            </a:custGeom>
            <a:solidFill>
              <a:srgbClr val="0C0A33"/>
            </a:solidFill>
            <a:ln w="28576" cap="sq">
              <a:solidFill>
                <a:srgbClr val="44426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578158" y="3150546"/>
            <a:ext cx="114300" cy="1909020"/>
            <a:chOff x="0" y="0"/>
            <a:chExt cx="152400" cy="25453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2400" cy="2545461"/>
            </a:xfrm>
            <a:custGeom>
              <a:avLst/>
              <a:gdLst/>
              <a:ahLst/>
              <a:cxnLst/>
              <a:rect l="l" t="t" r="r" b="b"/>
              <a:pathLst>
                <a:path w="152400" h="2545461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3251" y="0"/>
                  </a:lnTo>
                  <a:cubicBezTo>
                    <a:pt x="130429" y="0"/>
                    <a:pt x="152400" y="21971"/>
                    <a:pt x="152400" y="49149"/>
                  </a:cubicBezTo>
                  <a:lnTo>
                    <a:pt x="152400" y="2496312"/>
                  </a:lnTo>
                  <a:cubicBezTo>
                    <a:pt x="152400" y="2523363"/>
                    <a:pt x="130429" y="2545461"/>
                    <a:pt x="103251" y="2545461"/>
                  </a:cubicBezTo>
                  <a:lnTo>
                    <a:pt x="49149" y="2545461"/>
                  </a:lnTo>
                  <a:cubicBezTo>
                    <a:pt x="22098" y="2545461"/>
                    <a:pt x="0" y="2523490"/>
                    <a:pt x="0" y="2496312"/>
                  </a:cubicBez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8966444" y="3395958"/>
            <a:ext cx="5446814" cy="399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🏥</a:t>
            </a:r>
            <a:r>
              <a:rPr lang="en-US" sz="22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 Emergency &amp; Medical Directory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66444" y="3948855"/>
            <a:ext cx="8075114" cy="836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19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Aggregates nearest Trauma Centres, Hospitals, Ambulance Networks, and Police Stations in real time.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592445" y="5275364"/>
            <a:ext cx="8737406" cy="1937595"/>
            <a:chOff x="0" y="0"/>
            <a:chExt cx="11649875" cy="258345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649964" cy="2583561"/>
            </a:xfrm>
            <a:custGeom>
              <a:avLst/>
              <a:gdLst/>
              <a:ahLst/>
              <a:cxnLst/>
              <a:rect l="l" t="t" r="r" b="b"/>
              <a:pathLst>
                <a:path w="11649964" h="2583561">
                  <a:moveTo>
                    <a:pt x="0" y="185674"/>
                  </a:moveTo>
                  <a:cubicBezTo>
                    <a:pt x="0" y="83058"/>
                    <a:pt x="83058" y="0"/>
                    <a:pt x="185674" y="0"/>
                  </a:cubicBezTo>
                  <a:lnTo>
                    <a:pt x="11464290" y="0"/>
                  </a:lnTo>
                  <a:cubicBezTo>
                    <a:pt x="11566779" y="0"/>
                    <a:pt x="11649964" y="83058"/>
                    <a:pt x="11649964" y="185674"/>
                  </a:cubicBezTo>
                  <a:lnTo>
                    <a:pt x="11649964" y="2397887"/>
                  </a:lnTo>
                  <a:cubicBezTo>
                    <a:pt x="11649964" y="2500376"/>
                    <a:pt x="11566906" y="2583561"/>
                    <a:pt x="11464290" y="2583561"/>
                  </a:cubicBezTo>
                  <a:lnTo>
                    <a:pt x="185674" y="2583561"/>
                  </a:lnTo>
                  <a:cubicBezTo>
                    <a:pt x="83058" y="2583434"/>
                    <a:pt x="0" y="2500376"/>
                    <a:pt x="0" y="2397887"/>
                  </a:cubicBezTo>
                  <a:close/>
                </a:path>
              </a:pathLst>
            </a:custGeom>
            <a:solidFill>
              <a:srgbClr val="0C0A33"/>
            </a:solidFill>
            <a:ln w="28576" cap="sq">
              <a:solidFill>
                <a:srgbClr val="44426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8158" y="5289652"/>
            <a:ext cx="114300" cy="1909020"/>
            <a:chOff x="0" y="0"/>
            <a:chExt cx="152400" cy="254535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2400" cy="2545461"/>
            </a:xfrm>
            <a:custGeom>
              <a:avLst/>
              <a:gdLst/>
              <a:ahLst/>
              <a:cxnLst/>
              <a:rect l="l" t="t" r="r" b="b"/>
              <a:pathLst>
                <a:path w="152400" h="2545461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3251" y="0"/>
                  </a:lnTo>
                  <a:cubicBezTo>
                    <a:pt x="130429" y="0"/>
                    <a:pt x="152400" y="21971"/>
                    <a:pt x="152400" y="49149"/>
                  </a:cubicBezTo>
                  <a:lnTo>
                    <a:pt x="152400" y="2496312"/>
                  </a:lnTo>
                  <a:cubicBezTo>
                    <a:pt x="152400" y="2523363"/>
                    <a:pt x="130429" y="2545461"/>
                    <a:pt x="103251" y="2545461"/>
                  </a:cubicBezTo>
                  <a:lnTo>
                    <a:pt x="49149" y="2545461"/>
                  </a:lnTo>
                  <a:cubicBezTo>
                    <a:pt x="22098" y="2545461"/>
                    <a:pt x="0" y="2523490"/>
                    <a:pt x="0" y="2496312"/>
                  </a:cubicBez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8966444" y="5535063"/>
            <a:ext cx="4596708" cy="399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🚗</a:t>
            </a:r>
            <a:r>
              <a:rPr lang="en-US" sz="22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 Logistics &amp; Vehicle Rescue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966444" y="6087961"/>
            <a:ext cx="8075114" cy="836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19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Pinpoints nearest Towing Services, Puncture Repair Shops, and Vehicle Showrooms for rapid roadside recovery.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592445" y="7414470"/>
            <a:ext cx="8737406" cy="1937595"/>
            <a:chOff x="0" y="0"/>
            <a:chExt cx="11649875" cy="258345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649964" cy="2583561"/>
            </a:xfrm>
            <a:custGeom>
              <a:avLst/>
              <a:gdLst/>
              <a:ahLst/>
              <a:cxnLst/>
              <a:rect l="l" t="t" r="r" b="b"/>
              <a:pathLst>
                <a:path w="11649964" h="2583561">
                  <a:moveTo>
                    <a:pt x="0" y="185674"/>
                  </a:moveTo>
                  <a:cubicBezTo>
                    <a:pt x="0" y="83058"/>
                    <a:pt x="83058" y="0"/>
                    <a:pt x="185674" y="0"/>
                  </a:cubicBezTo>
                  <a:lnTo>
                    <a:pt x="11464290" y="0"/>
                  </a:lnTo>
                  <a:cubicBezTo>
                    <a:pt x="11566779" y="0"/>
                    <a:pt x="11649964" y="83058"/>
                    <a:pt x="11649964" y="185674"/>
                  </a:cubicBezTo>
                  <a:lnTo>
                    <a:pt x="11649964" y="2397887"/>
                  </a:lnTo>
                  <a:cubicBezTo>
                    <a:pt x="11649964" y="2500376"/>
                    <a:pt x="11566906" y="2583561"/>
                    <a:pt x="11464290" y="2583561"/>
                  </a:cubicBezTo>
                  <a:lnTo>
                    <a:pt x="185674" y="2583561"/>
                  </a:lnTo>
                  <a:cubicBezTo>
                    <a:pt x="83058" y="2583434"/>
                    <a:pt x="0" y="2500376"/>
                    <a:pt x="0" y="2397887"/>
                  </a:cubicBezTo>
                  <a:close/>
                </a:path>
              </a:pathLst>
            </a:custGeom>
            <a:solidFill>
              <a:srgbClr val="0C0A33"/>
            </a:solidFill>
            <a:ln w="28576" cap="sq">
              <a:solidFill>
                <a:srgbClr val="44426B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8158" y="7428757"/>
            <a:ext cx="114300" cy="1909020"/>
            <a:chOff x="0" y="0"/>
            <a:chExt cx="152400" cy="254535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2400" cy="2545461"/>
            </a:xfrm>
            <a:custGeom>
              <a:avLst/>
              <a:gdLst/>
              <a:ahLst/>
              <a:cxnLst/>
              <a:rect l="l" t="t" r="r" b="b"/>
              <a:pathLst>
                <a:path w="152400" h="2545461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103251" y="0"/>
                  </a:lnTo>
                  <a:cubicBezTo>
                    <a:pt x="130429" y="0"/>
                    <a:pt x="152400" y="21971"/>
                    <a:pt x="152400" y="49149"/>
                  </a:cubicBezTo>
                  <a:lnTo>
                    <a:pt x="152400" y="2496312"/>
                  </a:lnTo>
                  <a:cubicBezTo>
                    <a:pt x="152400" y="2523363"/>
                    <a:pt x="130429" y="2545461"/>
                    <a:pt x="103251" y="2545461"/>
                  </a:cubicBezTo>
                  <a:lnTo>
                    <a:pt x="49149" y="2545461"/>
                  </a:lnTo>
                  <a:cubicBezTo>
                    <a:pt x="22098" y="2545461"/>
                    <a:pt x="0" y="2523490"/>
                    <a:pt x="0" y="2496312"/>
                  </a:cubicBezTo>
                  <a:close/>
                </a:path>
              </a:pathLst>
            </a:custGeom>
            <a:solidFill>
              <a:srgbClr val="8061FF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8966444" y="7674169"/>
            <a:ext cx="4601613" cy="399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⚖</a:t>
            </a:r>
            <a:r>
              <a:rPr lang="en-US" sz="22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 Global &amp; Legal Framework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66444" y="8227066"/>
            <a:ext cx="8075114" cy="836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1"/>
              </a:lnSpc>
            </a:pPr>
            <a:r>
              <a:rPr lang="en-US" sz="19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Integrates regional law structures, traffic violations, and fine schedules into simplified, location-specific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30786" y="1072753"/>
            <a:ext cx="2529783" cy="481613"/>
            <a:chOff x="0" y="0"/>
            <a:chExt cx="3373044" cy="642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73120" cy="642239"/>
            </a:xfrm>
            <a:custGeom>
              <a:avLst/>
              <a:gdLst/>
              <a:ahLst/>
              <a:cxnLst/>
              <a:rect l="l" t="t" r="r" b="b"/>
              <a:pathLst>
                <a:path w="3373120" h="642239">
                  <a:moveTo>
                    <a:pt x="0" y="41275"/>
                  </a:moveTo>
                  <a:cubicBezTo>
                    <a:pt x="0" y="18415"/>
                    <a:pt x="18415" y="0"/>
                    <a:pt x="41275" y="0"/>
                  </a:cubicBezTo>
                  <a:lnTo>
                    <a:pt x="3331845" y="0"/>
                  </a:lnTo>
                  <a:cubicBezTo>
                    <a:pt x="3354578" y="0"/>
                    <a:pt x="3373120" y="18415"/>
                    <a:pt x="3373120" y="41275"/>
                  </a:cubicBezTo>
                  <a:lnTo>
                    <a:pt x="3373120" y="600964"/>
                  </a:lnTo>
                  <a:cubicBezTo>
                    <a:pt x="3373120" y="623697"/>
                    <a:pt x="3354705" y="642239"/>
                    <a:pt x="3331845" y="642239"/>
                  </a:cubicBezTo>
                  <a:lnTo>
                    <a:pt x="41275" y="642239"/>
                  </a:lnTo>
                  <a:cubicBezTo>
                    <a:pt x="18415" y="642112"/>
                    <a:pt x="0" y="623697"/>
                    <a:pt x="0" y="600964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85415" y="1073791"/>
            <a:ext cx="3134916" cy="403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4"/>
              </a:lnSpc>
            </a:pPr>
            <a:r>
              <a:rPr lang="en-US" sz="16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AI INNOVATION LAYER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0786" y="1608087"/>
            <a:ext cx="16948099" cy="805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AI Proactive Systems &amp; Voice Emergency Engine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0786" y="2718044"/>
            <a:ext cx="17140828" cy="485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RoadSos does not wait for you to act — it </a:t>
            </a: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anticipates, detects, and responds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before you even realise you need help.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0786" y="4421381"/>
            <a:ext cx="5110763" cy="40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AI Predictive Danger Detection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0786" y="4904784"/>
            <a:ext cx="5197373" cy="2121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Algorithms calculate and map high-risk, accident-prone zones, delivering </a:t>
            </a: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real-time Audio Danger Alerts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before drivers enter threat areas — turning passive navigation into active protection.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45161" y="4421381"/>
            <a:ext cx="5197526" cy="786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Voice Emergency Engine (100% Hands-Free)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45161" y="5283698"/>
            <a:ext cx="5197526" cy="2121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Continuous on-device keyword recognition detects distress phrases like </a:t>
            </a: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"Help me"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or </a:t>
            </a: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"Call ambulance."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Advanced acoustic anomaly monitoring via a </a:t>
            </a: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Scream Detection System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triggers alerts autonomously.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59688" y="4421381"/>
            <a:ext cx="4605490" cy="40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Smart Fallback Automation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59688" y="4904784"/>
            <a:ext cx="5197373" cy="2530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Integrated impact/accident sensory detection triggers an </a:t>
            </a: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Automatic SOS Payload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, backed by a </a:t>
            </a: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10-second emergency countdown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to prevent false alarms — paired with an </a:t>
            </a: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SOS Audio Alarm Beacon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for responder localisation.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30786" y="7721051"/>
            <a:ext cx="16226428" cy="1493196"/>
            <a:chOff x="0" y="0"/>
            <a:chExt cx="21635237" cy="19909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635213" cy="1990979"/>
            </a:xfrm>
            <a:custGeom>
              <a:avLst/>
              <a:gdLst/>
              <a:ahLst/>
              <a:cxnLst/>
              <a:rect l="l" t="t" r="r" b="b"/>
              <a:pathLst>
                <a:path w="21635213" h="1990979">
                  <a:moveTo>
                    <a:pt x="0" y="51562"/>
                  </a:moveTo>
                  <a:cubicBezTo>
                    <a:pt x="0" y="23114"/>
                    <a:pt x="23114" y="0"/>
                    <a:pt x="51562" y="0"/>
                  </a:cubicBezTo>
                  <a:lnTo>
                    <a:pt x="21583650" y="0"/>
                  </a:lnTo>
                  <a:cubicBezTo>
                    <a:pt x="21612098" y="0"/>
                    <a:pt x="21635213" y="23114"/>
                    <a:pt x="21635213" y="51562"/>
                  </a:cubicBezTo>
                  <a:lnTo>
                    <a:pt x="21635213" y="1939417"/>
                  </a:lnTo>
                  <a:cubicBezTo>
                    <a:pt x="21635213" y="1967865"/>
                    <a:pt x="21612098" y="1990979"/>
                    <a:pt x="21583650" y="1990979"/>
                  </a:cubicBezTo>
                  <a:lnTo>
                    <a:pt x="51562" y="1990979"/>
                  </a:lnTo>
                  <a:cubicBezTo>
                    <a:pt x="23114" y="1990979"/>
                    <a:pt x="0" y="1967865"/>
                    <a:pt x="0" y="1939417"/>
                  </a:cubicBezTo>
                  <a:close/>
                </a:path>
              </a:pathLst>
            </a:custGeom>
            <a:solidFill>
              <a:srgbClr val="183A1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8409" y="8103241"/>
            <a:ext cx="322059" cy="257623"/>
            <a:chOff x="0" y="0"/>
            <a:chExt cx="429412" cy="343497"/>
          </a:xfrm>
        </p:grpSpPr>
        <p:sp>
          <p:nvSpPr>
            <p:cNvPr id="20" name="Freeform 20" descr="preencoded.png"/>
            <p:cNvSpPr/>
            <p:nvPr/>
          </p:nvSpPr>
          <p:spPr>
            <a:xfrm>
              <a:off x="0" y="0"/>
              <a:ext cx="429387" cy="343535"/>
            </a:xfrm>
            <a:custGeom>
              <a:avLst/>
              <a:gdLst/>
              <a:ahLst/>
              <a:cxnLst/>
              <a:rect l="l" t="t" r="r" b="b"/>
              <a:pathLst>
                <a:path w="429387" h="343535">
                  <a:moveTo>
                    <a:pt x="0" y="0"/>
                  </a:moveTo>
                  <a:lnTo>
                    <a:pt x="429387" y="0"/>
                  </a:lnTo>
                  <a:lnTo>
                    <a:pt x="429387" y="343535"/>
                  </a:lnTo>
                  <a:lnTo>
                    <a:pt x="0" y="343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63" r="-372" b="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868091" y="7962748"/>
            <a:ext cx="15131501" cy="894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0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Team Error 404</a:t>
            </a:r>
            <a:r>
              <a:rPr lang="en-US" sz="2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— RoadSos is ready to save lives. We seek pilot partnerships with emergency services, state transport authorities, and ambulance networks to validate and deploy.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47150" y="2423217"/>
            <a:ext cx="3195790" cy="491881"/>
            <a:chOff x="0" y="0"/>
            <a:chExt cx="4261053" cy="6558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61104" cy="655828"/>
            </a:xfrm>
            <a:custGeom>
              <a:avLst/>
              <a:gdLst/>
              <a:ahLst/>
              <a:cxnLst/>
              <a:rect l="l" t="t" r="r" b="b"/>
              <a:pathLst>
                <a:path w="4261104" h="655828">
                  <a:moveTo>
                    <a:pt x="0" y="41910"/>
                  </a:moveTo>
                  <a:cubicBezTo>
                    <a:pt x="0" y="18796"/>
                    <a:pt x="18796" y="0"/>
                    <a:pt x="41910" y="0"/>
                  </a:cubicBezTo>
                  <a:lnTo>
                    <a:pt x="4219194" y="0"/>
                  </a:lnTo>
                  <a:cubicBezTo>
                    <a:pt x="4242308" y="0"/>
                    <a:pt x="4261104" y="18796"/>
                    <a:pt x="4261104" y="41910"/>
                  </a:cubicBezTo>
                  <a:lnTo>
                    <a:pt x="4261104" y="613918"/>
                  </a:lnTo>
                  <a:cubicBezTo>
                    <a:pt x="4261104" y="637032"/>
                    <a:pt x="4242308" y="655828"/>
                    <a:pt x="4219194" y="655828"/>
                  </a:cubicBezTo>
                  <a:lnTo>
                    <a:pt x="41910" y="655828"/>
                  </a:lnTo>
                  <a:cubicBezTo>
                    <a:pt x="18796" y="655828"/>
                    <a:pt x="0" y="637032"/>
                    <a:pt x="0" y="613918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04170" y="2425456"/>
            <a:ext cx="3796160" cy="41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6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WOMEN SAFETY &amp; MEDICAL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47150" y="2981620"/>
            <a:ext cx="17026976" cy="80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Advanced Women Safety &amp; Medical Integration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7150" y="4415438"/>
            <a:ext cx="6318942" cy="49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Women Safety Ecosystem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47150" y="5091713"/>
            <a:ext cx="7777458" cy="2261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600" lvl="1" indent="-241300" algn="l">
              <a:lnSpc>
                <a:spcPts val="3192"/>
              </a:lnSpc>
              <a:buFont typeface="Arial"/>
              <a:buChar char="•"/>
            </a:pP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SafeWalk Guardian Mode: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Continuous background monitoring for walking through vulnerable or unlit environments.</a:t>
            </a:r>
          </a:p>
          <a:p>
            <a:pPr marL="482600" lvl="1" indent="-241300" algn="l">
              <a:lnSpc>
                <a:spcPts val="3192"/>
              </a:lnSpc>
              <a:buFont typeface="Arial"/>
              <a:buChar char="•"/>
            </a:pP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Discreet Activation Arrays: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Trigger silent SOS alerts using physical volume button patterns or via Shake-to-SOS sensor thresholds. Includes a Fake Incoming Call Escape Mode.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72908" y="4415438"/>
            <a:ext cx="7048500" cy="49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9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Bystander Medical Integration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72908" y="5091713"/>
            <a:ext cx="7777458" cy="2680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600" lvl="1" indent="-241300" algn="l">
              <a:lnSpc>
                <a:spcPts val="3192"/>
              </a:lnSpc>
              <a:buFont typeface="Arial"/>
              <a:buChar char="•"/>
            </a:pP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Smart Emergency Card: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Active SOS signals trigger a hard locked screen layout exposing critical user data (Medical Conditions, Allergies, Blood Group).</a:t>
            </a:r>
          </a:p>
          <a:p>
            <a:pPr marL="482600" lvl="1" indent="-241300" algn="l">
              <a:lnSpc>
                <a:spcPts val="3192"/>
              </a:lnSpc>
              <a:buFont typeface="Arial"/>
              <a:buChar char="•"/>
            </a:pPr>
            <a:r>
              <a:rPr lang="en-US" sz="20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Bystander Assistance:</a:t>
            </a:r>
            <a:r>
              <a:rPr lang="en-US" sz="2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Screen remains locked with vitals exposed until safety is verified, while an AI First Aid Assistant plays voice-guided medical instruction to on-scene responders.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39818" y="721671"/>
            <a:ext cx="2737399" cy="451247"/>
            <a:chOff x="0" y="0"/>
            <a:chExt cx="3649866" cy="6016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49853" cy="601599"/>
            </a:xfrm>
            <a:custGeom>
              <a:avLst/>
              <a:gdLst/>
              <a:ahLst/>
              <a:cxnLst/>
              <a:rect l="l" t="t" r="r" b="b"/>
              <a:pathLst>
                <a:path w="3649853" h="601599">
                  <a:moveTo>
                    <a:pt x="0" y="39243"/>
                  </a:moveTo>
                  <a:cubicBezTo>
                    <a:pt x="0" y="17526"/>
                    <a:pt x="17526" y="0"/>
                    <a:pt x="39243" y="0"/>
                  </a:cubicBezTo>
                  <a:lnTo>
                    <a:pt x="3610610" y="0"/>
                  </a:lnTo>
                  <a:cubicBezTo>
                    <a:pt x="3632327" y="0"/>
                    <a:pt x="3649853" y="17526"/>
                    <a:pt x="3649853" y="39243"/>
                  </a:cubicBezTo>
                  <a:lnTo>
                    <a:pt x="3649853" y="562356"/>
                  </a:lnTo>
                  <a:cubicBezTo>
                    <a:pt x="3649853" y="584073"/>
                    <a:pt x="3632327" y="601599"/>
                    <a:pt x="3610610" y="601599"/>
                  </a:cubicBezTo>
                  <a:lnTo>
                    <a:pt x="39243" y="601599"/>
                  </a:lnTo>
                  <a:cubicBezTo>
                    <a:pt x="17526" y="601599"/>
                    <a:pt x="0" y="584073"/>
                    <a:pt x="0" y="562356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987008" y="728510"/>
            <a:ext cx="3357410" cy="37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2"/>
              </a:lnSpc>
            </a:pPr>
            <a:r>
              <a:rPr lang="en-US" sz="15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TECHNICAL FOUNDATION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39818" y="1217266"/>
            <a:ext cx="9466364" cy="1491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Tech Stack, Architecture &amp; Evaluation Criteria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39818" y="3255464"/>
            <a:ext cx="4433735" cy="89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Production Architecture Stack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39818" y="4304109"/>
            <a:ext cx="4433735" cy="5180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0" lvl="1" indent="-229235" algn="l">
              <a:lnSpc>
                <a:spcPts val="2941"/>
              </a:lnSpc>
              <a:buFont typeface="Arial"/>
              <a:buChar char="•"/>
            </a:pPr>
            <a:r>
              <a:rPr lang="en-US" sz="19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Frontend Framework:</a:t>
            </a:r>
            <a:r>
              <a:rPr lang="en-US" sz="19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Next.js 16 (React 19) + TailwindCSS + Framer Motion for a fluid, ultra-responsive safety UI.</a:t>
            </a:r>
          </a:p>
          <a:p>
            <a:pPr marL="458470" lvl="1" indent="-229235" algn="l">
              <a:lnSpc>
                <a:spcPts val="2941"/>
              </a:lnSpc>
              <a:buFont typeface="Arial"/>
              <a:buChar char="•"/>
            </a:pPr>
            <a:r>
              <a:rPr lang="en-US" sz="19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Backend Ecosystem:</a:t>
            </a:r>
            <a:r>
              <a:rPr lang="en-US" sz="19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Python FastAPI + Uvicorn handling high-throughput, asynchronous geolocation pipelines.</a:t>
            </a:r>
          </a:p>
          <a:p>
            <a:pPr marL="458470" lvl="1" indent="-229235" algn="l">
              <a:lnSpc>
                <a:spcPts val="2941"/>
              </a:lnSpc>
              <a:buFont typeface="Arial"/>
              <a:buChar char="•"/>
            </a:pPr>
            <a:r>
              <a:rPr lang="en-US" sz="19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Database Layer:</a:t>
            </a:r>
            <a:r>
              <a:rPr lang="en-US" sz="19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Lightweight, File-Based JSON Documents ensuring zero-configuration, instant local runnability for the hackathon judging committee.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81972" y="3255464"/>
            <a:ext cx="4527499" cy="461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Meeting the Rubric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81972" y="3871017"/>
            <a:ext cx="4433735" cy="357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8470" lvl="1" indent="-229235" algn="l">
              <a:lnSpc>
                <a:spcPts val="2941"/>
              </a:lnSpc>
              <a:buFont typeface="Arial"/>
              <a:buChar char="•"/>
            </a:pPr>
            <a:r>
              <a:rPr lang="en-US" sz="19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Offline Robustness:</a:t>
            </a:r>
            <a:r>
              <a:rPr lang="en-US" sz="19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Web Speech APIs, local directories, core algorithms, and profiles operate 100% locally without data connection.</a:t>
            </a:r>
          </a:p>
          <a:p>
            <a:pPr marL="458470" lvl="1" indent="-229235" algn="l">
              <a:lnSpc>
                <a:spcPts val="2941"/>
              </a:lnSpc>
              <a:buFont typeface="Arial"/>
              <a:buChar char="•"/>
            </a:pPr>
            <a:r>
              <a:rPr lang="en-US" sz="19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Data Precision:</a:t>
            </a:r>
            <a:r>
              <a:rPr lang="en-US" sz="19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Accurate mathematical radial distances are computed locally using optimized Haversine coordinate formulas.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50D4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C0A33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25223" y="657816"/>
            <a:ext cx="1538440" cy="383534"/>
            <a:chOff x="0" y="0"/>
            <a:chExt cx="2051253" cy="5113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51177" cy="511303"/>
            </a:xfrm>
            <a:custGeom>
              <a:avLst/>
              <a:gdLst/>
              <a:ahLst/>
              <a:cxnLst/>
              <a:rect l="l" t="t" r="r" b="b"/>
              <a:pathLst>
                <a:path w="2051177" h="511303">
                  <a:moveTo>
                    <a:pt x="0" y="34671"/>
                  </a:moveTo>
                  <a:cubicBezTo>
                    <a:pt x="0" y="15494"/>
                    <a:pt x="15494" y="0"/>
                    <a:pt x="34671" y="0"/>
                  </a:cubicBezTo>
                  <a:lnTo>
                    <a:pt x="2016506" y="0"/>
                  </a:lnTo>
                  <a:cubicBezTo>
                    <a:pt x="2035683" y="0"/>
                    <a:pt x="2051177" y="15494"/>
                    <a:pt x="2051177" y="34671"/>
                  </a:cubicBezTo>
                  <a:lnTo>
                    <a:pt x="2051177" y="476631"/>
                  </a:lnTo>
                  <a:cubicBezTo>
                    <a:pt x="2051177" y="495808"/>
                    <a:pt x="2035683" y="511302"/>
                    <a:pt x="2016506" y="511302"/>
                  </a:cubicBezTo>
                  <a:lnTo>
                    <a:pt x="34671" y="511302"/>
                  </a:lnTo>
                  <a:cubicBezTo>
                    <a:pt x="15494" y="511429"/>
                    <a:pt x="0" y="495808"/>
                    <a:pt x="0" y="476631"/>
                  </a:cubicBezTo>
                  <a:close/>
                </a:path>
              </a:pathLst>
            </a:custGeom>
            <a:solidFill>
              <a:srgbClr val="0F004D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855296" y="665712"/>
            <a:ext cx="2192684" cy="31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3"/>
              </a:lnSpc>
            </a:pPr>
            <a:r>
              <a:rPr lang="en-US" sz="13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VISION &amp; TEAM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725223" y="1084507"/>
            <a:ext cx="9695555" cy="130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0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Preserving Life Through Technology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25223" y="2600620"/>
            <a:ext cx="9695555" cy="181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RoadSos: The AI Emergency Guardian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25223" y="4667993"/>
            <a:ext cx="3975344" cy="40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Our Vision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25223" y="5281765"/>
            <a:ext cx="9695555" cy="691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17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Minimizing response times, simplifying complex laws, and preserving life during the Golden Hour—Anytime, Anywhere, with or without a network.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25223" y="6223102"/>
            <a:ext cx="3975344" cy="40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Team Error 404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25223" y="6836864"/>
            <a:ext cx="9695555" cy="2273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0" lvl="1" indent="-205105" algn="l">
              <a:lnSpc>
                <a:spcPts val="2488"/>
              </a:lnSpc>
              <a:buFont typeface="Arial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Jiya Kalra</a:t>
            </a:r>
          </a:p>
          <a:p>
            <a:pPr marL="410210" lvl="1" indent="-205105" algn="l">
              <a:lnSpc>
                <a:spcPts val="2488"/>
              </a:lnSpc>
              <a:buFont typeface="Arial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Mahi Agrawal</a:t>
            </a:r>
          </a:p>
          <a:p>
            <a:pPr marL="410210" lvl="1" indent="-205105" algn="l">
              <a:lnSpc>
                <a:spcPts val="2488"/>
              </a:lnSpc>
              <a:buFont typeface="Arial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Aanya Yadav</a:t>
            </a:r>
          </a:p>
          <a:p>
            <a:pPr marL="410210" lvl="1" indent="-205105" algn="l">
              <a:lnSpc>
                <a:spcPts val="2488"/>
              </a:lnSpc>
              <a:buFont typeface="Arial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Akshay Saxena</a:t>
            </a:r>
          </a:p>
          <a:p>
            <a:pPr marL="410210" lvl="1" indent="-205105" algn="l">
              <a:lnSpc>
                <a:spcPts val="2488"/>
              </a:lnSpc>
              <a:buFont typeface="Arial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Shikhar Vaidhya</a:t>
            </a:r>
          </a:p>
          <a:p>
            <a:pPr marL="410210" lvl="1" indent="-205105" algn="l">
              <a:lnSpc>
                <a:spcPts val="2488"/>
              </a:lnSpc>
              <a:buFont typeface="Arial"/>
              <a:buChar char="•"/>
            </a:pPr>
            <a:r>
              <a:rPr lang="en-US" sz="1700" dirty="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Saurabh Kumar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25223" y="9254881"/>
            <a:ext cx="10562777" cy="374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1700" b="1">
                <a:solidFill>
                  <a:srgbClr val="D9E1FF"/>
                </a:solidFill>
                <a:latin typeface="Arimo Bold"/>
                <a:ea typeface="Arimo Bold"/>
                <a:cs typeface="Arimo Bold"/>
                <a:sym typeface="Arimo Bold"/>
              </a:rPr>
              <a:t>National Road Safety Hackathon 2026 | IIT Madras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803</Words>
  <Application>Microsoft Office PowerPoint</Application>
  <PresentationFormat>Custom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Arimo</vt:lpstr>
      <vt:lpstr>Arimo Bold</vt:lpstr>
      <vt:lpstr>Arimo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Aanya Yadav</dc:creator>
  <cp:lastModifiedBy>Lenovo</cp:lastModifiedBy>
  <cp:revision>1</cp:revision>
  <dcterms:created xsi:type="dcterms:W3CDTF">2006-08-16T00:00:00Z</dcterms:created>
  <dcterms:modified xsi:type="dcterms:W3CDTF">2026-05-21T15:37:24Z</dcterms:modified>
  <dc:identifier>DAHKS36QOGw</dc:identifier>
</cp:coreProperties>
</file>